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69" r:id="rId14"/>
    <p:sldId id="272" r:id="rId15"/>
    <p:sldId id="273" r:id="rId16"/>
    <p:sldId id="271" r:id="rId17"/>
    <p:sldId id="274" r:id="rId18"/>
    <p:sldId id="275" r:id="rId19"/>
    <p:sldId id="276" r:id="rId20"/>
    <p:sldId id="278" r:id="rId21"/>
    <p:sldId id="277" r:id="rId2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0570D-0931-E615-42DD-162863436A60}" v="658" dt="2026-05-05T14:44:52.446"/>
    <p1510:client id="{F65F13C6-3BBF-00FB-1CD7-8C0EEDFA2FE3}" v="251" dt="2026-05-05T16:01:58.159"/>
    <p1510:client id="{FF0E3744-4037-D529-CEB4-DE450006C39C}" v="396" dt="2026-05-04T22:48:40.1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zure/machine-learning/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radio.app/docs" TargetMode="External"/><Relationship Id="rId5" Type="http://schemas.openxmlformats.org/officeDocument/2006/relationships/hyperlink" Target="https://learn.microsoft.com/azure/storage/blobs/data-lake-storage-introduction" TargetMode="External"/><Relationship Id="rId4" Type="http://schemas.openxmlformats.org/officeDocument/2006/relationships/hyperlink" Target="https://learn.microsoft.com/azure/synapse-analyt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568CC1-D447-2D4D-3DE5-9642F53C3D6D}"/>
              </a:ext>
            </a:extLst>
          </p:cNvPr>
          <p:cNvSpPr txBox="1"/>
          <p:nvPr/>
        </p:nvSpPr>
        <p:spPr>
          <a:xfrm>
            <a:off x="584549" y="454069"/>
            <a:ext cx="1101246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i="0" u="sng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Big Data Analytics in Healthcare: Practical Use Cases</a:t>
            </a:r>
            <a:endParaRPr lang="en-GB" sz="3600">
              <a:latin typeface="Calibri"/>
              <a:ea typeface="Calibri"/>
              <a:cs typeface="Calibri"/>
            </a:endParaRPr>
          </a:p>
          <a:p>
            <a:pPr algn="ctr"/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8006C274-8165-5A7D-4099-930834B51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011" y="4665292"/>
            <a:ext cx="2318360" cy="13269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D5EF6E-0836-9598-6C70-7617563321DE}"/>
              </a:ext>
            </a:extLst>
          </p:cNvPr>
          <p:cNvSpPr txBox="1"/>
          <p:nvPr/>
        </p:nvSpPr>
        <p:spPr>
          <a:xfrm>
            <a:off x="571327" y="1719049"/>
            <a:ext cx="787887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dirty="0">
                <a:latin typeface="Calibri"/>
                <a:ea typeface="Calibri"/>
                <a:cs typeface="Calibri"/>
              </a:rPr>
              <a:t>Seminar Timing: Wednesday [3:00pm-5:00pm]</a:t>
            </a:r>
          </a:p>
          <a:p>
            <a:pPr algn="ctr"/>
            <a:r>
              <a:rPr lang="en-GB" sz="2400" dirty="0">
                <a:latin typeface="Calibri"/>
                <a:ea typeface="Calibri"/>
                <a:cs typeface="Calibri"/>
              </a:rPr>
              <a:t>Group no: A06</a:t>
            </a:r>
          </a:p>
          <a:p>
            <a:pPr algn="ctr"/>
            <a:r>
              <a:rPr lang="en-GB" sz="2400" dirty="0">
                <a:latin typeface="Calibri"/>
                <a:ea typeface="Calibri"/>
                <a:cs typeface="Calibri"/>
              </a:rPr>
              <a:t>Room No: LX608</a:t>
            </a:r>
          </a:p>
          <a:p>
            <a:pPr algn="ctr"/>
            <a:r>
              <a:rPr lang="en-GB" sz="2400" dirty="0">
                <a:latin typeface="Calibri"/>
                <a:ea typeface="Calibri"/>
                <a:cs typeface="Calibri"/>
              </a:rPr>
              <a:t>Tutor Name: Ms Alaa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B1AEE-419F-D5E7-1758-8146AC367FC8}"/>
              </a:ext>
            </a:extLst>
          </p:cNvPr>
          <p:cNvSpPr/>
          <p:nvPr/>
        </p:nvSpPr>
        <p:spPr>
          <a:xfrm>
            <a:off x="584549" y="4142689"/>
            <a:ext cx="7878870" cy="15696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Prasanna Gautam</a:t>
            </a:r>
          </a:p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ID: 260016207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88197C36-4D86-07A6-56FF-02CC7E612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655" y="4633978"/>
            <a:ext cx="2401867" cy="137916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5D7110-1733-7232-EA5D-46AA5924C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584" y="187781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 b="1" u="sng">
                <a:latin typeface="Calibri"/>
                <a:ea typeface="Calibri"/>
                <a:cs typeface="Calibri"/>
              </a:rPr>
              <a:t>Problem Statement</a:t>
            </a:r>
            <a:endParaRPr lang="en-GB" sz="2400" u="sng">
              <a:latin typeface="Calibri"/>
              <a:ea typeface="Calibri"/>
              <a:cs typeface="Calibri"/>
            </a:endParaRPr>
          </a:p>
          <a:p>
            <a:r>
              <a:rPr lang="en-GB" sz="2000">
                <a:latin typeface="Calibri"/>
                <a:ea typeface="Calibri"/>
                <a:cs typeface="Calibri"/>
              </a:rPr>
              <a:t>Hospital bills are difficult to estimate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Patients lack cost transparency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Hospitals require financial planning tools </a:t>
            </a:r>
          </a:p>
          <a:p>
            <a:pPr marL="0" indent="0">
              <a:buNone/>
            </a:pPr>
            <a:r>
              <a:rPr lang="en-GB" sz="2400" b="1" u="sng">
                <a:latin typeface="Calibri"/>
                <a:ea typeface="Calibri"/>
                <a:cs typeface="Calibri"/>
              </a:rPr>
              <a:t>Project Objective</a:t>
            </a:r>
            <a:endParaRPr lang="en-GB" sz="2400" u="sng">
              <a:latin typeface="Calibri"/>
              <a:ea typeface="Calibri"/>
              <a:cs typeface="Calibri"/>
            </a:endParaRPr>
          </a:p>
          <a:p>
            <a:r>
              <a:rPr lang="en-GB" sz="2000">
                <a:latin typeface="Calibri"/>
                <a:ea typeface="Calibri"/>
                <a:cs typeface="Calibri"/>
              </a:rPr>
              <a:t>Predict hospital billing cost using Machine Learning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Build scalable cloud analytics solution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Enable real-time cost prediction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919095C-6A14-5105-9DBA-370CA8EA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u="sng">
                <a:latin typeface="Calibri"/>
                <a:ea typeface="Calibri"/>
                <a:cs typeface="Calibri"/>
              </a:rPr>
              <a:t>Cloud-Based Hospital Bill Prediction System</a:t>
            </a:r>
            <a:endParaRPr lang="en-US" sz="3600" b="1"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 descr="A person standing next to a person sitting at a desk&#10;&#10;AI-generated content may be incorrect.">
            <a:extLst>
              <a:ext uri="{FF2B5EF4-FFF2-40B4-BE49-F238E27FC236}">
                <a16:creationId xmlns:a16="http://schemas.microsoft.com/office/drawing/2014/main" id="{E95A8AD2-2235-D993-0E0A-D2BEDC4C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26" y="1711957"/>
            <a:ext cx="3757155" cy="279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0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021A-4E20-DA27-D77F-142F454C9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34" y="1345461"/>
            <a:ext cx="10515600" cy="3370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 b="1" u="sng">
                <a:latin typeface="Calibri"/>
                <a:ea typeface="Calibri"/>
                <a:cs typeface="Calibri"/>
              </a:rPr>
              <a:t>Proposed Solution</a:t>
            </a:r>
            <a:endParaRPr lang="en-GB" sz="2400" u="sng">
              <a:latin typeface="Calibri"/>
              <a:ea typeface="Calibri"/>
              <a:cs typeface="Calibri"/>
            </a:endParaRPr>
          </a:p>
          <a:p>
            <a:r>
              <a:rPr lang="en-GB" sz="2000">
                <a:latin typeface="Calibri"/>
                <a:ea typeface="Calibri"/>
                <a:cs typeface="Calibri"/>
              </a:rPr>
              <a:t>Azure Cloud + Big Data Analytics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Machine Learning billing prediction model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Real-time deployment via API </a:t>
            </a:r>
          </a:p>
          <a:p>
            <a:pPr marL="0" indent="0">
              <a:buNone/>
            </a:pPr>
            <a:r>
              <a:rPr lang="en-GB" sz="2400" b="1" u="sng">
                <a:latin typeface="Calibri"/>
                <a:ea typeface="Calibri"/>
                <a:cs typeface="Calibri"/>
              </a:rPr>
              <a:t>Expected Benefits</a:t>
            </a:r>
            <a:endParaRPr lang="en-GB" sz="2400" u="sng">
              <a:latin typeface="Calibri"/>
              <a:ea typeface="Calibri"/>
              <a:cs typeface="Calibri"/>
            </a:endParaRPr>
          </a:p>
          <a:p>
            <a:r>
              <a:rPr lang="en-GB" sz="2000">
                <a:latin typeface="Calibri"/>
                <a:ea typeface="Calibri"/>
                <a:cs typeface="Calibri"/>
              </a:rPr>
              <a:t>✔ Better patient financial awareness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✔ Hospital resource optimisation </a:t>
            </a:r>
          </a:p>
          <a:p>
            <a:r>
              <a:rPr lang="en-GB" sz="2000">
                <a:latin typeface="Calibri"/>
                <a:ea typeface="Calibri"/>
                <a:cs typeface="Calibri"/>
              </a:rPr>
              <a:t>✔ Data-driven healthcare decisions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1001E41E-5F8B-1062-E4DF-E0D58511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874" y="4393896"/>
            <a:ext cx="2401867" cy="1379169"/>
          </a:xfrm>
          <a:prstGeom prst="rect">
            <a:avLst/>
          </a:prstGeom>
        </p:spPr>
      </p:pic>
      <p:pic>
        <p:nvPicPr>
          <p:cNvPr id="6" name="Picture 5" descr="A screenshot of a medical billing prediction form&#10;&#10;AI-generated content may be incorrect.">
            <a:extLst>
              <a:ext uri="{FF2B5EF4-FFF2-40B4-BE49-F238E27FC236}">
                <a16:creationId xmlns:a16="http://schemas.microsoft.com/office/drawing/2014/main" id="{0D4CA9BB-0B2C-DC7B-68FB-00821AB7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53" y="1601570"/>
            <a:ext cx="5548770" cy="235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2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F308-9D96-278D-3868-C4E992C34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16669" cy="887153"/>
          </a:xfrm>
        </p:spPr>
        <p:txBody>
          <a:bodyPr>
            <a:normAutofit/>
          </a:bodyPr>
          <a:lstStyle/>
          <a:p>
            <a:r>
              <a:rPr lang="en-GB" sz="3600" b="1" u="sng">
                <a:latin typeface="Calibri"/>
                <a:ea typeface="Calibri"/>
                <a:cs typeface="Calibri"/>
              </a:rPr>
              <a:t>Healthcare Dataset Overview</a:t>
            </a:r>
            <a:endParaRPr lang="en-US" sz="3600" b="1" u="sng">
              <a:latin typeface="Calibri"/>
              <a:ea typeface="Calibri"/>
              <a:cs typeface="Calibri"/>
            </a:endParaRPr>
          </a:p>
        </p:txBody>
      </p:sp>
      <p:pic>
        <p:nvPicPr>
          <p:cNvPr id="7" name="Content Placeholder 6" descr="A black and white table with white text&#10;&#10;AI-generated content may be incorrect.">
            <a:extLst>
              <a:ext uri="{FF2B5EF4-FFF2-40B4-BE49-F238E27FC236}">
                <a16:creationId xmlns:a16="http://schemas.microsoft.com/office/drawing/2014/main" id="{F7E75C33-AE9C-9D44-A8D3-FCDFCDAFA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206" y="3893674"/>
            <a:ext cx="10166958" cy="23759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1226C7-1DDF-5EDE-44C0-3D5C54825259}"/>
              </a:ext>
            </a:extLst>
          </p:cNvPr>
          <p:cNvSpPr/>
          <p:nvPr/>
        </p:nvSpPr>
        <p:spPr>
          <a:xfrm>
            <a:off x="974684" y="1258514"/>
            <a:ext cx="4395361" cy="25042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Dataset Source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Healthcare Dataset (Kaggle)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Realistic hospital admission data </a:t>
            </a:r>
          </a:p>
          <a:p>
            <a:r>
              <a:rPr lang="en-GB" b="1">
                <a:latin typeface="Calibri"/>
                <a:ea typeface="Calibri"/>
                <a:cs typeface="Calibri"/>
              </a:rPr>
              <a:t>Why Selected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Contains billing influencing factors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Suitable for cost prediction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Structured healthcare data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Supports ML &amp; cloud analytics</a:t>
            </a:r>
          </a:p>
          <a:p>
            <a:pPr algn="ctr"/>
            <a:endParaRPr lang="en-GB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CA4E3-E6D1-5176-945F-E0F9C9F1BB13}"/>
              </a:ext>
            </a:extLst>
          </p:cNvPr>
          <p:cNvSpPr/>
          <p:nvPr/>
        </p:nvSpPr>
        <p:spPr>
          <a:xfrm>
            <a:off x="6234219" y="1257767"/>
            <a:ext cx="4911826" cy="2491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endParaRPr lang="en-GB" b="1" dirty="0">
              <a:latin typeface="Calibri"/>
              <a:ea typeface="Calibri"/>
              <a:cs typeface="Calibri"/>
            </a:endParaRPr>
          </a:p>
          <a:p>
            <a:r>
              <a:rPr lang="en-GB" b="1">
                <a:latin typeface="Calibri"/>
                <a:ea typeface="Calibri"/>
                <a:cs typeface="Calibri"/>
              </a:rPr>
              <a:t>Dataset Summary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Records: </a:t>
            </a:r>
            <a:r>
              <a:rPr lang="en-GB" b="1">
                <a:latin typeface="Calibri"/>
                <a:ea typeface="Calibri"/>
                <a:cs typeface="Calibri"/>
              </a:rPr>
              <a:t>55,000+ patients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Features: </a:t>
            </a:r>
            <a:r>
              <a:rPr lang="en-GB" b="1">
                <a:latin typeface="Calibri"/>
                <a:ea typeface="Calibri"/>
                <a:cs typeface="Calibri"/>
              </a:rPr>
              <a:t>15 columns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Format: CSV structured dataset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Target Variable: </a:t>
            </a:r>
            <a:r>
              <a:rPr lang="en-GB" b="1">
                <a:latin typeface="Calibri"/>
                <a:ea typeface="Calibri"/>
                <a:cs typeface="Calibri"/>
              </a:rPr>
              <a:t>Billing Amount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CEE22521-729A-8C76-3272-BF4727797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655" y="4894937"/>
            <a:ext cx="2401867" cy="137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2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B109-1C13-B9E1-83A0-4D1D8A7B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01" y="-217"/>
            <a:ext cx="10515600" cy="949783"/>
          </a:xfrm>
        </p:spPr>
        <p:txBody>
          <a:bodyPr>
            <a:normAutofit/>
          </a:bodyPr>
          <a:lstStyle/>
          <a:p>
            <a:r>
              <a:rPr lang="en-GB" sz="3600" b="1" u="sng">
                <a:latin typeface="Calibri"/>
                <a:ea typeface="Calibri"/>
                <a:cs typeface="Calibri"/>
              </a:rPr>
              <a:t>Data Ingestion and Cloud Storage Design</a:t>
            </a:r>
            <a:endParaRPr lang="en-US" sz="3600" b="1" u="sng"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52DF0-15D3-A5C8-91CC-2D1BE9F4BEC5}"/>
              </a:ext>
            </a:extLst>
          </p:cNvPr>
          <p:cNvSpPr/>
          <p:nvPr/>
        </p:nvSpPr>
        <p:spPr>
          <a:xfrm>
            <a:off x="701791" y="947680"/>
            <a:ext cx="4559738" cy="4489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sz="2400" b="1">
                <a:latin typeface="Calibri"/>
                <a:ea typeface="Calibri"/>
                <a:cs typeface="Calibri"/>
              </a:rPr>
              <a:t>Cloud Storage Solution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Azure Data Lake Storage Gen2 (ADLS)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Scalable &amp; distributed storage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High availability and redundancy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Cost-efficient pay-as-you-go model </a:t>
            </a:r>
          </a:p>
          <a:p>
            <a:br>
              <a:rPr lang="en-US" dirty="0"/>
            </a:b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GB" sz="2400" b="1">
                <a:latin typeface="Calibri"/>
                <a:ea typeface="Calibri"/>
                <a:cs typeface="Calibri"/>
              </a:rPr>
              <a:t>Data Ingestion Process</a:t>
            </a:r>
            <a:endParaRPr lang="en-GB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Azure Synapse Pipeline used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Delimited Text Dataset created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Automated data copy to Data Lake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Raw data stored in </a:t>
            </a:r>
            <a:r>
              <a:rPr lang="en-GB" sz="2000" b="1">
                <a:latin typeface="Calibri"/>
                <a:ea typeface="Calibri"/>
                <a:cs typeface="Calibri"/>
              </a:rPr>
              <a:t>Raw Layer</a:t>
            </a:r>
            <a:endParaRPr lang="en-GB" sz="2000">
              <a:latin typeface="Calibri"/>
              <a:ea typeface="Calibri"/>
              <a:cs typeface="Calibri"/>
            </a:endParaRPr>
          </a:p>
          <a:p>
            <a:endParaRPr lang="en-GB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09BAEA-02D8-5368-C802-7196F551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205" y="1111914"/>
            <a:ext cx="6096001" cy="2984913"/>
          </a:xfrm>
          <a:prstGeom prst="rect">
            <a:avLst/>
          </a:prstGeom>
        </p:spPr>
      </p:pic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6E1D76AF-2ECE-C39F-04BB-EEF967BE7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573" y="4748800"/>
            <a:ext cx="2401867" cy="137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6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5621EB-8D91-231F-D9D6-E915892979A9}"/>
              </a:ext>
            </a:extLst>
          </p:cNvPr>
          <p:cNvSpPr/>
          <p:nvPr/>
        </p:nvSpPr>
        <p:spPr>
          <a:xfrm>
            <a:off x="636596" y="803359"/>
            <a:ext cx="4834377" cy="4746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sz="2400" b="1">
                <a:latin typeface="Calibri"/>
                <a:ea typeface="Calibri"/>
                <a:cs typeface="Calibri"/>
              </a:rPr>
              <a:t>Storage Architecture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b="1">
                <a:latin typeface="Calibri"/>
                <a:ea typeface="Calibri"/>
                <a:cs typeface="Calibri"/>
              </a:rPr>
              <a:t>Raw Layer</a:t>
            </a:r>
            <a:r>
              <a:rPr lang="en-GB" sz="2000">
                <a:latin typeface="Calibri"/>
                <a:ea typeface="Calibri"/>
                <a:cs typeface="Calibri"/>
              </a:rPr>
              <a:t> → Original dataset </a:t>
            </a:r>
          </a:p>
          <a:p>
            <a:pPr marL="285750" indent="-285750">
              <a:buFont typeface="Arial"/>
              <a:buChar char="•"/>
            </a:pPr>
            <a:r>
              <a:rPr lang="en-GB" sz="2000" b="1">
                <a:latin typeface="Calibri"/>
                <a:ea typeface="Calibri"/>
                <a:cs typeface="Calibri"/>
              </a:rPr>
              <a:t>Processed Layer</a:t>
            </a:r>
            <a:r>
              <a:rPr lang="en-GB" sz="2000">
                <a:latin typeface="Calibri"/>
                <a:ea typeface="Calibri"/>
                <a:cs typeface="Calibri"/>
              </a:rPr>
              <a:t> → Cleaned data </a:t>
            </a:r>
          </a:p>
          <a:p>
            <a:pPr marL="285750" indent="-285750">
              <a:buFont typeface="Arial"/>
              <a:buChar char="•"/>
            </a:pPr>
            <a:r>
              <a:rPr lang="en-GB" sz="2000" b="1">
                <a:latin typeface="Calibri"/>
                <a:ea typeface="Calibri"/>
                <a:cs typeface="Calibri"/>
              </a:rPr>
              <a:t>Analytics Layer</a:t>
            </a:r>
            <a:r>
              <a:rPr lang="en-GB" sz="2000">
                <a:latin typeface="Calibri"/>
                <a:ea typeface="Calibri"/>
                <a:cs typeface="Calibri"/>
              </a:rPr>
              <a:t> → ML &amp; Reporting </a:t>
            </a:r>
          </a:p>
          <a:p>
            <a:br>
              <a:rPr lang="en-US" dirty="0"/>
            </a:br>
            <a:endParaRPr lang="en-US">
              <a:latin typeface="Calibri"/>
              <a:ea typeface="Calibri"/>
              <a:cs typeface="Calibri"/>
            </a:endParaRPr>
          </a:p>
          <a:p>
            <a:r>
              <a:rPr lang="en-GB" sz="2400" b="1">
                <a:latin typeface="Calibri"/>
                <a:ea typeface="Calibri"/>
                <a:cs typeface="Calibri"/>
              </a:rPr>
              <a:t>Why Azure Storage?</a:t>
            </a:r>
            <a:endParaRPr lang="en-GB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Supports Big Data workloads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Integrated with Databricks &amp; Azure ML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Secure access using IAM &amp; RBAC 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latin typeface="Calibri"/>
                <a:ea typeface="Calibri"/>
                <a:cs typeface="Calibri"/>
              </a:rPr>
              <a:t>Industry-standard cloud architecture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7E137B-49F7-03A3-F32E-F856946C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98" y="807367"/>
            <a:ext cx="5782851" cy="2216145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AF308F-EF2A-251C-57BC-8F081F49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698" y="3179024"/>
            <a:ext cx="5782851" cy="2378857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22C57412-68AE-2AF4-4413-D1B771E2A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765" y="5072389"/>
            <a:ext cx="2401867" cy="137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9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AB6D3D-8E04-34E0-9E80-DDAB38B47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398" y="215651"/>
            <a:ext cx="11690957" cy="636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4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0ADD-9D8F-1154-B5A8-4DA65DBB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52" y="-217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 u="sng">
                <a:latin typeface="Times New Roman"/>
                <a:ea typeface="+mj-lt"/>
                <a:cs typeface="Times New Roman"/>
              </a:rPr>
              <a:t>Data Extraction &amp; Pre-processing</a:t>
            </a:r>
            <a:endParaRPr lang="en-US" sz="3600">
              <a:latin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807EE-5697-B341-99EA-02801AF659EE}"/>
              </a:ext>
            </a:extLst>
          </p:cNvPr>
          <p:cNvSpPr/>
          <p:nvPr/>
        </p:nvSpPr>
        <p:spPr>
          <a:xfrm>
            <a:off x="249201" y="1669993"/>
            <a:ext cx="3313546" cy="32543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67492-D8FE-192D-83B3-9C9C1F0B7D06}"/>
              </a:ext>
            </a:extLst>
          </p:cNvPr>
          <p:cNvSpPr txBox="1"/>
          <p:nvPr/>
        </p:nvSpPr>
        <p:spPr>
          <a:xfrm>
            <a:off x="253047" y="1806722"/>
            <a:ext cx="3463444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u="sng">
                <a:latin typeface="Calibri"/>
                <a:ea typeface="Calibri"/>
                <a:cs typeface="Calibri"/>
              </a:rPr>
              <a:t>Data Sources &amp; Tools Used</a:t>
            </a:r>
            <a:endParaRPr lang="en-US" sz="2000" u="sng">
              <a:latin typeface="Calibri"/>
              <a:ea typeface="Calibri"/>
              <a:cs typeface="Calibri"/>
            </a:endParaRPr>
          </a:p>
          <a:p>
            <a:r>
              <a:rPr lang="en-GB" sz="2000" b="1">
                <a:latin typeface="Calibri"/>
                <a:ea typeface="Calibri"/>
                <a:cs typeface="Calibri"/>
              </a:rPr>
              <a:t>Data Source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Healthcare Billing Dataset (CSV format) 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Extraction Tools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Azure Data Lake Storage Gen2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Azure Synapse Analytics Pipeline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Synapse Notebooks (Spark / Python)</a:t>
            </a:r>
          </a:p>
          <a:p>
            <a:pPr algn="l"/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E01C27-50D8-E98A-8C8F-E5FA5D9A0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643" y="974381"/>
            <a:ext cx="5981180" cy="3239104"/>
          </a:xfrm>
          <a:prstGeom prst="rect">
            <a:avLst/>
          </a:prstGeom>
        </p:spPr>
      </p:pic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F73F932B-FE2D-641D-AD81-F638B77C1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772" y="3427565"/>
            <a:ext cx="5980920" cy="29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21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30584B-2D6C-8799-3D51-E3CA32A9BE1C}"/>
              </a:ext>
            </a:extLst>
          </p:cNvPr>
          <p:cNvSpPr/>
          <p:nvPr/>
        </p:nvSpPr>
        <p:spPr>
          <a:xfrm>
            <a:off x="473715" y="782554"/>
            <a:ext cx="4559168" cy="4995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sz="2000" b="1">
                <a:latin typeface="Calibri"/>
                <a:ea typeface="Calibri"/>
                <a:cs typeface="Calibri"/>
              </a:rPr>
              <a:t>Data Cleaning</a:t>
            </a:r>
          </a:p>
          <a:p>
            <a:pPr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Removed missing/null values </a:t>
            </a:r>
          </a:p>
          <a:p>
            <a:pPr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Handled inconsistent records </a:t>
            </a:r>
          </a:p>
          <a:p>
            <a:pPr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Removed duplicate patient entries 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Data Transformation</a:t>
            </a:r>
          </a:p>
          <a:p>
            <a:pPr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Converted categorical variables into numerical format </a:t>
            </a:r>
          </a:p>
          <a:p>
            <a:pPr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Standardized feature formats </a:t>
            </a:r>
          </a:p>
          <a:p>
            <a:pPr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Normalized billing-related attributes 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Feature Engineering</a:t>
            </a:r>
          </a:p>
          <a:p>
            <a:r>
              <a:rPr lang="en-GB">
                <a:latin typeface="Calibri"/>
                <a:ea typeface="Calibri"/>
                <a:cs typeface="Calibri"/>
              </a:rPr>
              <a:t>Selected important billing predictors: </a:t>
            </a:r>
          </a:p>
          <a:p>
            <a:pPr marL="228600" lvl="1" indent="-228600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Age </a:t>
            </a:r>
          </a:p>
          <a:p>
            <a:pPr marL="228600" lvl="1" indent="-228600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Gender </a:t>
            </a:r>
          </a:p>
          <a:p>
            <a:pPr marL="228600" lvl="1" indent="-228600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Admission Type </a:t>
            </a:r>
          </a:p>
          <a:p>
            <a:pPr marL="228600" lvl="1" indent="-228600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Length of Stay </a:t>
            </a:r>
          </a:p>
          <a:p>
            <a:pPr marL="228600" lvl="1" indent="-228600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Insurance Provider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081E9B-F34D-C167-0A24-0F2AEFE1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51" y="219205"/>
            <a:ext cx="4885140" cy="280792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A27B52-4447-86FA-DDD7-03FA09A68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17" y="3016684"/>
            <a:ext cx="4721433" cy="361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3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62521D-DA41-CC78-52BF-94A14CFA8B1A}"/>
              </a:ext>
            </a:extLst>
          </p:cNvPr>
          <p:cNvSpPr/>
          <p:nvPr/>
        </p:nvSpPr>
        <p:spPr>
          <a:xfrm>
            <a:off x="553410" y="950317"/>
            <a:ext cx="4110818" cy="46203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          </a:t>
            </a:r>
            <a:r>
              <a:rPr lang="en-GB" sz="2000" b="1">
                <a:latin typeface="Calibri"/>
                <a:ea typeface="Calibri"/>
                <a:cs typeface="Calibri"/>
              </a:rPr>
              <a:t>      Data Preparation</a:t>
            </a:r>
            <a:endParaRPr lang="en-GB" sz="2000" b="1" dirty="0">
              <a:latin typeface="Calibri"/>
              <a:ea typeface="Calibri"/>
              <a:cs typeface="Calibri"/>
            </a:endParaRPr>
          </a:p>
          <a:p>
            <a:endParaRPr lang="en-GB" sz="2000" b="1" dirty="0">
              <a:latin typeface="Calibri"/>
              <a:ea typeface="Calibri"/>
              <a:cs typeface="Calibri"/>
            </a:endParaRPr>
          </a:p>
          <a:p>
            <a:r>
              <a:rPr lang="en-GB">
                <a:latin typeface="Calibri"/>
                <a:ea typeface="Calibri"/>
                <a:cs typeface="Calibri"/>
              </a:rPr>
              <a:t> Split dataset into: </a:t>
            </a:r>
          </a:p>
          <a:p>
            <a:pPr marL="742950" lvl="1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Training Data </a:t>
            </a:r>
          </a:p>
          <a:p>
            <a:pPr marL="742950" lvl="1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Testing Data </a:t>
            </a:r>
          </a:p>
          <a:p>
            <a:pPr lvl="1"/>
            <a:endParaRPr lang="en-GB" b="1" dirty="0">
              <a:latin typeface="Calibri"/>
              <a:ea typeface="Calibri"/>
              <a:cs typeface="Calibri"/>
            </a:endParaRPr>
          </a:p>
          <a:p>
            <a:pPr lvl="1"/>
            <a:r>
              <a:rPr lang="en-GB" sz="2000" b="1" dirty="0">
                <a:latin typeface="Calibri"/>
                <a:ea typeface="Calibri"/>
                <a:cs typeface="Calibri"/>
              </a:rPr>
              <a:t> Output of Pre-processing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lvl="1"/>
            <a:endParaRPr lang="en-GB" b="1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Clean structured dataset generated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Stored back into </a:t>
            </a:r>
            <a:r>
              <a:rPr lang="en-GB" b="1">
                <a:latin typeface="Calibri"/>
                <a:ea typeface="Calibri"/>
                <a:cs typeface="Calibri"/>
              </a:rPr>
              <a:t>ADLS Gen2 clean container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Data ready for: </a:t>
            </a:r>
          </a:p>
          <a:p>
            <a:pPr marL="742950" lvl="1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Machine Learning Training </a:t>
            </a:r>
          </a:p>
          <a:p>
            <a:pPr marL="742950" lvl="1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Predictive Analytics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C78C98-A573-08BA-F9BE-4C7FECE3A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309" y="396657"/>
            <a:ext cx="6028533" cy="345509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52975A-5D1A-DB69-523B-771AAFBC5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891" y="4144080"/>
            <a:ext cx="6043809" cy="20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2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5F8FB-DDBF-4601-C80D-87F13326EC57}"/>
              </a:ext>
            </a:extLst>
          </p:cNvPr>
          <p:cNvSpPr txBox="1"/>
          <p:nvPr/>
        </p:nvSpPr>
        <p:spPr>
          <a:xfrm>
            <a:off x="346599" y="312009"/>
            <a:ext cx="113109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u="sng">
                <a:latin typeface="Times New Roman"/>
                <a:ea typeface="+mn-lt"/>
                <a:cs typeface="Times New Roman"/>
              </a:rPr>
              <a:t>Data Analysis &amp; Insights with ML Model Training</a:t>
            </a:r>
            <a:endParaRPr lang="en-GB" sz="3600" b="1" u="sng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A7A85-B3AA-825F-574A-E022DDA9D735}"/>
              </a:ext>
            </a:extLst>
          </p:cNvPr>
          <p:cNvSpPr/>
          <p:nvPr/>
        </p:nvSpPr>
        <p:spPr>
          <a:xfrm>
            <a:off x="542696" y="1432595"/>
            <a:ext cx="3333650" cy="4231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2000" b="1">
                <a:latin typeface="Calibri"/>
                <a:ea typeface="Calibri"/>
                <a:cs typeface="Calibri"/>
              </a:rPr>
              <a:t>Analytical Techniques Used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Exploratory Data Analysis (EDA)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Statistical analysis of healthcare attributes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Feature correlation analysis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Machine Learning Regression Model 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Algorithms Applied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Regression-based prediction model –</a:t>
            </a:r>
            <a:r>
              <a:rPr lang="en-GB">
                <a:solidFill>
                  <a:srgbClr val="24789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Gradient Boosting Regressor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Model trained on cleaned healthcare dataset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0ECA6CE-2C54-2DD9-4017-CF1F3E8E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295" y="1428189"/>
            <a:ext cx="3338234" cy="4483475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32373F-C0CA-F2D1-3E07-B14E7D78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496" y="1432672"/>
            <a:ext cx="4552390" cy="371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05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F16A2-9E53-8B89-E946-1C6D8AD7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1" y="1036323"/>
            <a:ext cx="11766178" cy="40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60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heatmap&#10;&#10;AI-generated content may be incorrect.">
            <a:extLst>
              <a:ext uri="{FF2B5EF4-FFF2-40B4-BE49-F238E27FC236}">
                <a16:creationId xmlns:a16="http://schemas.microsoft.com/office/drawing/2014/main" id="{3891D261-365A-87D5-50C7-4609EB285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584" y="722500"/>
            <a:ext cx="3667125" cy="3171825"/>
          </a:xfrm>
          <a:prstGeom prst="rect">
            <a:avLst/>
          </a:prstGeom>
        </p:spPr>
      </p:pic>
      <p:pic>
        <p:nvPicPr>
          <p:cNvPr id="5" name="Picture 4" descr="A graph of a distribution of hospital billing&#10;&#10;AI-generated content may be incorrect.">
            <a:extLst>
              <a:ext uri="{FF2B5EF4-FFF2-40B4-BE49-F238E27FC236}">
                <a16:creationId xmlns:a16="http://schemas.microsoft.com/office/drawing/2014/main" id="{27924807-3CF3-00A3-5CA9-3A29AA76D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465" y="900672"/>
            <a:ext cx="3152775" cy="2524125"/>
          </a:xfrm>
          <a:prstGeom prst="rect">
            <a:avLst/>
          </a:prstGeom>
        </p:spPr>
      </p:pic>
      <p:pic>
        <p:nvPicPr>
          <p:cNvPr id="6" name="Picture 5" descr="A graph of a graph with a red line&#10;&#10;AI-generated content may be incorrect.">
            <a:extLst>
              <a:ext uri="{FF2B5EF4-FFF2-40B4-BE49-F238E27FC236}">
                <a16:creationId xmlns:a16="http://schemas.microsoft.com/office/drawing/2014/main" id="{550F53DB-2A45-BC57-AF98-29497EF8E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541" y="3900768"/>
            <a:ext cx="3352800" cy="2552700"/>
          </a:xfrm>
          <a:prstGeom prst="rect">
            <a:avLst/>
          </a:prstGeom>
        </p:spPr>
      </p:pic>
      <p:pic>
        <p:nvPicPr>
          <p:cNvPr id="7" name="Picture 6" descr="A chart of a patient age and billing cost&#10;&#10;AI-generated content may be incorrect.">
            <a:extLst>
              <a:ext uri="{FF2B5EF4-FFF2-40B4-BE49-F238E27FC236}">
                <a16:creationId xmlns:a16="http://schemas.microsoft.com/office/drawing/2014/main" id="{CDB17DED-5A95-8C4E-D0C1-8BD3B02FA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762" y="3880037"/>
            <a:ext cx="3162300" cy="2571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6D4D0BF-9B18-7B5F-4E1F-968B0BD549B0}"/>
              </a:ext>
            </a:extLst>
          </p:cNvPr>
          <p:cNvSpPr/>
          <p:nvPr/>
        </p:nvSpPr>
        <p:spPr>
          <a:xfrm>
            <a:off x="195910" y="324610"/>
            <a:ext cx="3965207" cy="6314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2000" b="1">
                <a:latin typeface="Calibri"/>
                <a:ea typeface="Calibri"/>
                <a:cs typeface="Calibri"/>
              </a:rPr>
              <a:t>Key Insights Discovered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Length of hospital stay strongly impacts total bill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Insurance type influences billing variation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Emergency admissions increase treatment cost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Age and treatment category affect expense patterns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System helps hospitals to: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Estimate patient billing before treatment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Improve financial planning </a:t>
            </a:r>
            <a:endParaRPr lang="en-GB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Optimize hospital resource allocation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Increase billing transparency for patients 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Patients benefit by: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Predicting treatment expenses early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Better financial preparation 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Improved healthcare accessibility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337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3C94-088E-26C3-571B-0759E7A2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15" y="-217"/>
            <a:ext cx="8918532" cy="855837"/>
          </a:xfrm>
        </p:spPr>
        <p:txBody>
          <a:bodyPr/>
          <a:lstStyle/>
          <a:p>
            <a:r>
              <a:rPr lang="en-GB" sz="3600" b="1" u="sng" dirty="0">
                <a:latin typeface="Calibri"/>
                <a:ea typeface="Calibri"/>
                <a:cs typeface="Calibri"/>
              </a:rPr>
              <a:t>More </a:t>
            </a:r>
            <a:r>
              <a:rPr lang="en-GB" sz="3600" b="1" u="sng">
                <a:latin typeface="Calibri"/>
                <a:ea typeface="Calibri"/>
                <a:cs typeface="Calibri"/>
              </a:rPr>
              <a:t>Insights by Shap Expansive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13FC3F-6A8B-0D76-F225-CAA3E5ECEECE}"/>
              </a:ext>
            </a:extLst>
          </p:cNvPr>
          <p:cNvSpPr/>
          <p:nvPr/>
        </p:nvSpPr>
        <p:spPr>
          <a:xfrm>
            <a:off x="405777" y="1398097"/>
            <a:ext cx="3752849" cy="4076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Implemented </a:t>
            </a:r>
            <a:r>
              <a:rPr lang="en-GB" b="1">
                <a:latin typeface="Calibri"/>
                <a:ea typeface="Calibri"/>
                <a:cs typeface="Calibri"/>
              </a:rPr>
              <a:t>SHAP Explainable AI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>
                <a:latin typeface="Calibri"/>
                <a:ea typeface="Calibri"/>
                <a:cs typeface="Calibri"/>
              </a:rPr>
              <a:t>to interpret the Healthcare Billing Prediction model and improve transparency.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Identified </a:t>
            </a:r>
            <a:r>
              <a:rPr lang="en-GB" b="1" dirty="0">
                <a:latin typeface="Calibri"/>
                <a:ea typeface="Calibri"/>
                <a:cs typeface="Calibri"/>
              </a:rPr>
              <a:t>Length of Stay</a:t>
            </a:r>
            <a:r>
              <a:rPr lang="en-GB" dirty="0">
                <a:latin typeface="Calibri"/>
                <a:ea typeface="Calibri"/>
                <a:cs typeface="Calibri"/>
              </a:rPr>
              <a:t> and </a:t>
            </a:r>
            <a:r>
              <a:rPr lang="en-GB" b="1" dirty="0">
                <a:latin typeface="Calibri"/>
                <a:ea typeface="Calibri"/>
                <a:cs typeface="Calibri"/>
              </a:rPr>
              <a:t>Medical Condition</a:t>
            </a:r>
            <a:r>
              <a:rPr lang="en-GB" dirty="0">
                <a:latin typeface="Calibri"/>
                <a:ea typeface="Calibri"/>
                <a:cs typeface="Calibri"/>
              </a:rPr>
              <a:t> as the strongest factors influencing hospital billing costs.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Analysis showed </a:t>
            </a:r>
            <a:r>
              <a:rPr lang="en-GB" b="1">
                <a:latin typeface="Calibri"/>
                <a:ea typeface="Calibri"/>
                <a:cs typeface="Calibri"/>
              </a:rPr>
              <a:t>Emergency admissions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>
                <a:latin typeface="Calibri"/>
                <a:ea typeface="Calibri"/>
                <a:cs typeface="Calibri"/>
              </a:rPr>
              <a:t>significantly increase predicted treatment expenses.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980D68B-FDBB-627F-7072-3E2CDB94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296" y="1658263"/>
            <a:ext cx="74676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69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1E14F7-DC36-E35B-C1EA-CF666357F754}"/>
              </a:ext>
            </a:extLst>
          </p:cNvPr>
          <p:cNvSpPr/>
          <p:nvPr/>
        </p:nvSpPr>
        <p:spPr>
          <a:xfrm>
            <a:off x="419950" y="288274"/>
            <a:ext cx="3502560" cy="6339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Enabled </a:t>
            </a:r>
            <a:r>
              <a:rPr lang="en-GB" b="1">
                <a:latin typeface="Calibri"/>
                <a:ea typeface="Calibri"/>
                <a:cs typeface="Calibri"/>
              </a:rPr>
              <a:t>patient-level prediction explanation</a:t>
            </a:r>
            <a:r>
              <a:rPr lang="en-GB">
                <a:latin typeface="Calibri"/>
                <a:ea typeface="Calibri"/>
                <a:cs typeface="Calibri"/>
              </a:rPr>
              <a:t>, showing which features increase or decrease billing amounts.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Provided actionable insights for </a:t>
            </a:r>
            <a:r>
              <a:rPr lang="en-GB" b="1" dirty="0">
                <a:latin typeface="Calibri"/>
                <a:ea typeface="Calibri"/>
                <a:cs typeface="Calibri"/>
              </a:rPr>
              <a:t>hospital cost optimisation, insurance planning, and resource allocation</a:t>
            </a:r>
            <a:r>
              <a:rPr lang="en-GB" dirty="0">
                <a:latin typeface="Calibri"/>
                <a:ea typeface="Calibri"/>
                <a:cs typeface="Calibri"/>
              </a:rPr>
              <a:t>.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GB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Enhanced model reliability by transforming the system from a black-box predictor into an </a:t>
            </a:r>
            <a:r>
              <a:rPr lang="en-GB" b="1">
                <a:latin typeface="Calibri"/>
                <a:ea typeface="Calibri"/>
                <a:cs typeface="Calibri"/>
              </a:rPr>
              <a:t>explainable healthcare decision support system</a:t>
            </a:r>
            <a:r>
              <a:rPr lang="en-GB">
                <a:latin typeface="Calibri"/>
                <a:ea typeface="Calibri"/>
                <a:cs typeface="Calibri"/>
              </a:rPr>
              <a:t>.</a:t>
            </a:r>
          </a:p>
          <a:p>
            <a:pPr algn="just"/>
            <a:endParaRPr lang="en-GB" dirty="0">
              <a:latin typeface="Calibri"/>
              <a:ea typeface="Calibri"/>
              <a:cs typeface="Calibri"/>
            </a:endParaRPr>
          </a:p>
          <a:p>
            <a:pPr algn="just"/>
            <a:r>
              <a:rPr lang="en-GB">
                <a:latin typeface="Calibri"/>
                <a:ea typeface="Calibri"/>
                <a:cs typeface="Calibri"/>
              </a:rPr>
              <a:t>🎯 </a:t>
            </a:r>
            <a:r>
              <a:rPr lang="en-GB" sz="2000" b="1" u="sng">
                <a:latin typeface="Calibri"/>
                <a:ea typeface="Calibri"/>
                <a:cs typeface="Calibri"/>
              </a:rPr>
              <a:t>Business Value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Improves trust in AI decisions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Helps hospitals justify billing estimates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Supports ethical AI adoption in healthcare </a:t>
            </a:r>
          </a:p>
          <a:p>
            <a:pPr algn="just"/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bar graph with numbers and text&#10;&#10;AI-generated content may be incorrect.">
            <a:extLst>
              <a:ext uri="{FF2B5EF4-FFF2-40B4-BE49-F238E27FC236}">
                <a16:creationId xmlns:a16="http://schemas.microsoft.com/office/drawing/2014/main" id="{2FEB21B3-B583-80E9-1B8C-19F202FD2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903" y="293314"/>
            <a:ext cx="7626724" cy="2237255"/>
          </a:xfrm>
          <a:prstGeom prst="rect">
            <a:avLst/>
          </a:prstGeom>
        </p:spPr>
      </p:pic>
      <p:pic>
        <p:nvPicPr>
          <p:cNvPr id="6" name="Picture 5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D9C62EE5-2130-6CA8-085F-3591CA37F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268" y="2640946"/>
            <a:ext cx="6754907" cy="294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79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EE38F5-6173-5F39-6534-C98FEC9BCB5A}"/>
              </a:ext>
            </a:extLst>
          </p:cNvPr>
          <p:cNvSpPr/>
          <p:nvPr/>
        </p:nvSpPr>
        <p:spPr>
          <a:xfrm>
            <a:off x="459105" y="1744833"/>
            <a:ext cx="3007143" cy="33793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2000" b="1">
                <a:latin typeface="Calibri"/>
                <a:ea typeface="Calibri"/>
                <a:cs typeface="Calibri"/>
              </a:rPr>
              <a:t>Innovative Solution Proposed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AI-powered </a:t>
            </a:r>
            <a:r>
              <a:rPr lang="en-GB" b="1">
                <a:latin typeface="Calibri"/>
                <a:ea typeface="Calibri"/>
                <a:cs typeface="Calibri"/>
              </a:rPr>
              <a:t>Hospital Bill Prediction System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Real-time cost prediction using deployed ML model 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Interactive prediction interface built using </a:t>
            </a:r>
            <a:r>
              <a:rPr lang="en-GB" b="1" dirty="0" err="1">
                <a:latin typeface="Calibri"/>
                <a:ea typeface="Calibri"/>
                <a:cs typeface="Calibri"/>
              </a:rPr>
              <a:t>Gradio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Supports data-driven healthcare decision making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8884B6-A45B-26F1-3BD0-D0D6E34E6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617" y="1463424"/>
            <a:ext cx="8516471" cy="39311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6E3D8-3DDC-6CF5-9BCF-4066CF66F8BE}"/>
              </a:ext>
            </a:extLst>
          </p:cNvPr>
          <p:cNvSpPr txBox="1"/>
          <p:nvPr/>
        </p:nvSpPr>
        <p:spPr>
          <a:xfrm>
            <a:off x="458359" y="501238"/>
            <a:ext cx="95787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u="sng" dirty="0">
                <a:latin typeface="Calibri"/>
                <a:ea typeface="Calibri"/>
                <a:cs typeface="Calibri"/>
              </a:rPr>
              <a:t>Deployment using </a:t>
            </a:r>
            <a:r>
              <a:rPr lang="en-GB" sz="3600" b="1" u="sng" dirty="0" err="1">
                <a:latin typeface="Calibri"/>
                <a:ea typeface="Calibri"/>
                <a:cs typeface="Calibri"/>
              </a:rPr>
              <a:t>Gradio</a:t>
            </a:r>
            <a:endParaRPr lang="en-GB" sz="3600" b="1" u="sng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814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618DCE-5F81-0F59-BE74-AC74A0A8301E}"/>
              </a:ext>
            </a:extLst>
          </p:cNvPr>
          <p:cNvSpPr txBox="1"/>
          <p:nvPr/>
        </p:nvSpPr>
        <p:spPr>
          <a:xfrm>
            <a:off x="162060" y="338688"/>
            <a:ext cx="116070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u="sng">
                <a:latin typeface="Calibri"/>
                <a:ea typeface="Calibri"/>
                <a:cs typeface="Calibri"/>
              </a:rPr>
              <a:t>Cost Optimisation, Security &amp; Performance Management</a:t>
            </a:r>
            <a:endParaRPr lang="en-US" sz="3600" b="1" u="sng"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D89A7-72D9-97BF-5515-085B47AE2937}"/>
              </a:ext>
            </a:extLst>
          </p:cNvPr>
          <p:cNvSpPr/>
          <p:nvPr/>
        </p:nvSpPr>
        <p:spPr>
          <a:xfrm>
            <a:off x="462030" y="1232080"/>
            <a:ext cx="4176371" cy="48468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>
                <a:latin typeface="Calibri"/>
                <a:ea typeface="Calibri"/>
                <a:cs typeface="Calibri"/>
              </a:rPr>
              <a:t>☁</a:t>
            </a:r>
            <a:r>
              <a:rPr lang="en-GB" sz="2000" b="1">
                <a:latin typeface="Calibri"/>
                <a:ea typeface="Calibri"/>
                <a:cs typeface="Calibri"/>
              </a:rPr>
              <a:t>️ Cost Optimisation</a:t>
            </a:r>
            <a:r>
              <a:rPr lang="en-GB" b="1" dirty="0">
                <a:latin typeface="Calibri"/>
                <a:ea typeface="Calibri"/>
                <a:cs typeface="Calibri"/>
              </a:rPr>
              <a:t> </a:t>
            </a:r>
            <a:endParaRPr lang="en-US">
              <a:latin typeface="Calibri"/>
              <a:ea typeface="Calibri"/>
              <a:cs typeface="Calibri"/>
            </a:endParaRPr>
          </a:p>
          <a:p>
            <a:pPr algn="just"/>
            <a:endParaRPr lang="en-GB" b="1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Used </a:t>
            </a:r>
            <a:r>
              <a:rPr lang="en-GB" b="1">
                <a:latin typeface="Calibri"/>
                <a:ea typeface="Calibri"/>
                <a:cs typeface="Calibri"/>
              </a:rPr>
              <a:t>Azure Storage Account</a:t>
            </a:r>
            <a:r>
              <a:rPr lang="en-GB">
                <a:latin typeface="Calibri"/>
                <a:ea typeface="Calibri"/>
                <a:cs typeface="Calibri"/>
              </a:rPr>
              <a:t> for low-cost scalable data storage.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Performed data cleaning using </a:t>
            </a:r>
            <a:r>
              <a:rPr lang="en-GB" b="1">
                <a:latin typeface="Calibri"/>
                <a:ea typeface="Calibri"/>
                <a:cs typeface="Calibri"/>
              </a:rPr>
              <a:t>Synapse Notebook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>
                <a:latin typeface="Calibri"/>
                <a:ea typeface="Calibri"/>
                <a:cs typeface="Calibri"/>
              </a:rPr>
              <a:t>instead of heavy VM resources.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Selected </a:t>
            </a:r>
            <a:r>
              <a:rPr lang="en-GB" b="1">
                <a:latin typeface="Calibri"/>
                <a:ea typeface="Calibri"/>
                <a:cs typeface="Calibri"/>
              </a:rPr>
              <a:t>Custom Environment</a:t>
            </a:r>
            <a:r>
              <a:rPr lang="en-GB">
                <a:latin typeface="Calibri"/>
                <a:ea typeface="Calibri"/>
                <a:cs typeface="Calibri"/>
              </a:rPr>
              <a:t> in Azure ML to install only required libraries.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Deployed model as </a:t>
            </a:r>
            <a:r>
              <a:rPr lang="en-GB" b="1">
                <a:latin typeface="Calibri"/>
                <a:ea typeface="Calibri"/>
                <a:cs typeface="Calibri"/>
              </a:rPr>
              <a:t>online endpoint</a:t>
            </a:r>
            <a:r>
              <a:rPr lang="en-GB">
                <a:latin typeface="Calibri"/>
                <a:ea typeface="Calibri"/>
                <a:cs typeface="Calibri"/>
              </a:rPr>
              <a:t> — pay only during prediction usage.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Avoided continuous compute running by stopping unused resources.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Lightweight ML model reduced compute and deployment cost.</a:t>
            </a:r>
          </a:p>
          <a:p>
            <a:pPr algn="just"/>
            <a:endParaRPr lang="en-GB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D4201D8C-01DC-DDF8-2CFB-5731849AF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29" y="1472140"/>
            <a:ext cx="6947648" cy="391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93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BB8284-D16E-ACD5-FA84-8FC97BBF8DF9}"/>
              </a:ext>
            </a:extLst>
          </p:cNvPr>
          <p:cNvSpPr/>
          <p:nvPr/>
        </p:nvSpPr>
        <p:spPr>
          <a:xfrm>
            <a:off x="784050" y="1089301"/>
            <a:ext cx="4706124" cy="4496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2000" dirty="0">
                <a:latin typeface="Calibri"/>
                <a:ea typeface="Calibri"/>
                <a:cs typeface="Calibri"/>
              </a:rPr>
              <a:t>🔐 </a:t>
            </a:r>
            <a:r>
              <a:rPr lang="en-GB" sz="2000" b="1">
                <a:latin typeface="Calibri"/>
                <a:ea typeface="Calibri"/>
                <a:cs typeface="Calibri"/>
              </a:rPr>
              <a:t>Security &amp; Compliance</a:t>
            </a:r>
            <a:r>
              <a:rPr lang="en-GB" b="1" dirty="0">
                <a:latin typeface="Calibri"/>
                <a:ea typeface="Calibri"/>
                <a:cs typeface="Calibri"/>
              </a:rPr>
              <a:t> </a:t>
            </a:r>
            <a:endParaRPr lang="en-US">
              <a:latin typeface="Calibri"/>
              <a:ea typeface="Calibri"/>
              <a:cs typeface="Calibri"/>
            </a:endParaRPr>
          </a:p>
          <a:p>
            <a:pPr algn="just"/>
            <a:endParaRPr lang="en-GB" b="1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Healthcare dataset stored securely in </a:t>
            </a:r>
            <a:r>
              <a:rPr lang="en-GB" b="1">
                <a:latin typeface="Calibri"/>
                <a:ea typeface="Calibri"/>
                <a:cs typeface="Calibri"/>
              </a:rPr>
              <a:t>Azure Data Lake Storage</a:t>
            </a:r>
            <a:r>
              <a:rPr lang="en-GB">
                <a:latin typeface="Calibri"/>
                <a:ea typeface="Calibri"/>
                <a:cs typeface="Calibri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Access controlled using </a:t>
            </a:r>
            <a:r>
              <a:rPr lang="en-GB" b="1">
                <a:latin typeface="Calibri"/>
                <a:ea typeface="Calibri"/>
                <a:cs typeface="Calibri"/>
              </a:rPr>
              <a:t>Azure IAM &amp; RBAC permissions</a:t>
            </a:r>
            <a:r>
              <a:rPr lang="en-GB">
                <a:latin typeface="Calibri"/>
                <a:ea typeface="Calibri"/>
                <a:cs typeface="Calibri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Data transferred securely via </a:t>
            </a:r>
            <a:r>
              <a:rPr lang="en-GB" b="1">
                <a:latin typeface="Calibri"/>
                <a:ea typeface="Calibri"/>
                <a:cs typeface="Calibri"/>
              </a:rPr>
              <a:t>HTTPS encrypted connections</a:t>
            </a:r>
            <a:r>
              <a:rPr lang="en-GB">
                <a:latin typeface="Calibri"/>
                <a:ea typeface="Calibri"/>
                <a:cs typeface="Calibri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Model endpoint protected through authenticated Azure service access.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Ensured patient data confidentiality during training and prediction stages.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Followed cloud shared responsibility model for data protection.</a:t>
            </a:r>
          </a:p>
          <a:p>
            <a:pPr algn="just"/>
            <a:endParaRPr lang="en-GB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8083E-8714-285E-CF80-13032C9431CD}"/>
              </a:ext>
            </a:extLst>
          </p:cNvPr>
          <p:cNvSpPr/>
          <p:nvPr/>
        </p:nvSpPr>
        <p:spPr>
          <a:xfrm>
            <a:off x="5775875" y="1094866"/>
            <a:ext cx="5228869" cy="44978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>
                <a:latin typeface="Calibri"/>
                <a:ea typeface="Calibri"/>
                <a:cs typeface="Calibri"/>
              </a:rPr>
              <a:t>📊</a:t>
            </a:r>
            <a:r>
              <a:rPr lang="en-GB" sz="2000" dirty="0">
                <a:latin typeface="Calibri"/>
                <a:ea typeface="Calibri"/>
                <a:cs typeface="Calibri"/>
              </a:rPr>
              <a:t> </a:t>
            </a:r>
            <a:r>
              <a:rPr lang="en-GB" sz="2000" b="1">
                <a:latin typeface="Calibri"/>
                <a:ea typeface="Calibri"/>
                <a:cs typeface="Calibri"/>
              </a:rPr>
              <a:t>Performance Monitoring &amp; Management</a:t>
            </a:r>
          </a:p>
          <a:p>
            <a:endParaRPr lang="en-GB" b="1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Used </a:t>
            </a:r>
            <a:r>
              <a:rPr lang="en-GB" b="1">
                <a:latin typeface="Calibri"/>
                <a:ea typeface="Calibri"/>
                <a:cs typeface="Calibri"/>
              </a:rPr>
              <a:t>Azure ML deployment monitoring</a:t>
            </a:r>
            <a:r>
              <a:rPr lang="en-GB">
                <a:latin typeface="Calibri"/>
                <a:ea typeface="Calibri"/>
                <a:cs typeface="Calibri"/>
              </a:rPr>
              <a:t> to track prediction status.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Verified model accuracy using evaluation metrics before deployment.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Monitored endpoint health using logs and scoring responses.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Optimised preprocessing pipeline for faster prediction response time.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Cloud architecture allows scaling when hospital data volume increases.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Continuous monitoring ensures reliable real-time billing prediction.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6309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B105B-C0ED-0C80-CFF5-23F0483F4EF5}"/>
              </a:ext>
            </a:extLst>
          </p:cNvPr>
          <p:cNvSpPr txBox="1"/>
          <p:nvPr/>
        </p:nvSpPr>
        <p:spPr>
          <a:xfrm>
            <a:off x="194828" y="108748"/>
            <a:ext cx="98029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u="sng" dirty="0">
                <a:latin typeface="Calibri"/>
                <a:ea typeface="Calibri"/>
                <a:cs typeface="Calibri"/>
              </a:rPr>
              <a:t>Final Conclusion &amp; Future Improvements</a:t>
            </a:r>
            <a:endParaRPr lang="en-US" sz="3600" b="1" u="sng"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EE15EC-823F-FF7D-5983-D4F7B9D6F36C}"/>
              </a:ext>
            </a:extLst>
          </p:cNvPr>
          <p:cNvSpPr/>
          <p:nvPr/>
        </p:nvSpPr>
        <p:spPr>
          <a:xfrm>
            <a:off x="368833" y="1370843"/>
            <a:ext cx="4954826" cy="41912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2000" b="1">
                <a:latin typeface="Calibri"/>
                <a:ea typeface="Calibri"/>
                <a:cs typeface="Calibri"/>
              </a:rPr>
              <a:t>🎯 Project Conclusion</a:t>
            </a:r>
            <a:endParaRPr lang="en-US">
              <a:latin typeface="Calibri"/>
              <a:ea typeface="Calibri"/>
              <a:cs typeface="Calibri"/>
            </a:endParaRPr>
          </a:p>
          <a:p>
            <a:pPr algn="just"/>
            <a:endParaRPr lang="en-GB" b="1" dirty="0">
              <a:latin typeface="Calibri"/>
              <a:ea typeface="Calibri"/>
              <a:cs typeface="Calibri"/>
            </a:endParaRPr>
          </a:p>
          <a:p>
            <a:pPr algn="just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Developed an </a:t>
            </a:r>
            <a:r>
              <a:rPr lang="en-GB" b="1">
                <a:latin typeface="Calibri"/>
                <a:ea typeface="Calibri"/>
                <a:cs typeface="Calibri"/>
              </a:rPr>
              <a:t>end-to-end Hospital Billing Prediction System</a:t>
            </a:r>
            <a:r>
              <a:rPr lang="en-GB">
                <a:latin typeface="Calibri"/>
                <a:ea typeface="Calibri"/>
                <a:cs typeface="Calibri"/>
              </a:rPr>
              <a:t> using Microsoft Azure Cloud. </a:t>
            </a:r>
          </a:p>
          <a:p>
            <a:pPr algn="just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Implemented </a:t>
            </a:r>
            <a:r>
              <a:rPr lang="en-GB" b="1">
                <a:latin typeface="Calibri"/>
                <a:ea typeface="Calibri"/>
                <a:cs typeface="Calibri"/>
              </a:rPr>
              <a:t>cloud-based data ingestion, storage, and scalable processing architecture</a:t>
            </a:r>
            <a:r>
              <a:rPr lang="en-GB">
                <a:latin typeface="Calibri"/>
                <a:ea typeface="Calibri"/>
                <a:cs typeface="Calibri"/>
              </a:rPr>
              <a:t>. </a:t>
            </a:r>
            <a:endParaRPr lang="en-GB" dirty="0">
              <a:latin typeface="Calibri"/>
              <a:ea typeface="Calibri"/>
              <a:cs typeface="Calibri"/>
            </a:endParaRPr>
          </a:p>
          <a:p>
            <a:pPr algn="just">
              <a:buFont typeface="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Applied </a:t>
            </a:r>
            <a:r>
              <a:rPr lang="en-GB" b="1" dirty="0">
                <a:latin typeface="Calibri"/>
                <a:ea typeface="Calibri"/>
                <a:cs typeface="Calibri"/>
              </a:rPr>
              <a:t>machine learning regression model</a:t>
            </a:r>
            <a:r>
              <a:rPr lang="en-GB" dirty="0">
                <a:latin typeface="Calibri"/>
                <a:ea typeface="Calibri"/>
                <a:cs typeface="Calibri"/>
              </a:rPr>
              <a:t> for accurate billing prediction. </a:t>
            </a:r>
          </a:p>
          <a:p>
            <a:pPr algn="just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Integrated </a:t>
            </a:r>
            <a:r>
              <a:rPr lang="en-GB" b="1">
                <a:latin typeface="Calibri"/>
                <a:ea typeface="Calibri"/>
                <a:cs typeface="Calibri"/>
              </a:rPr>
              <a:t>Explainable AI (SHAP)</a:t>
            </a:r>
            <a:r>
              <a:rPr lang="en-GB">
                <a:latin typeface="Calibri"/>
                <a:ea typeface="Calibri"/>
                <a:cs typeface="Calibri"/>
              </a:rPr>
              <a:t> to ensure transparent healthcare decisions. </a:t>
            </a:r>
            <a:endParaRPr lang="en-GB" dirty="0">
              <a:latin typeface="Calibri"/>
              <a:ea typeface="Calibri"/>
              <a:cs typeface="Calibri"/>
            </a:endParaRPr>
          </a:p>
          <a:p>
            <a:pPr algn="just">
              <a:buFont typeface="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Successfully deployed a </a:t>
            </a:r>
            <a:r>
              <a:rPr lang="en-GB" b="1" dirty="0">
                <a:latin typeface="Calibri"/>
                <a:ea typeface="Calibri"/>
                <a:cs typeface="Calibri"/>
              </a:rPr>
              <a:t>real-time prediction system</a:t>
            </a:r>
            <a:r>
              <a:rPr lang="en-GB" dirty="0">
                <a:latin typeface="Calibri"/>
                <a:ea typeface="Calibri"/>
                <a:cs typeface="Calibri"/>
              </a:rPr>
              <a:t> using Azure ML &amp; </a:t>
            </a:r>
            <a:r>
              <a:rPr lang="en-GB" dirty="0" err="1">
                <a:latin typeface="Calibri"/>
                <a:ea typeface="Calibri"/>
                <a:cs typeface="Calibri"/>
              </a:rPr>
              <a:t>Gradio</a:t>
            </a:r>
            <a:r>
              <a:rPr lang="en-GB" dirty="0">
                <a:latin typeface="Calibri"/>
                <a:ea typeface="Calibri"/>
                <a:cs typeface="Calibri"/>
              </a:rPr>
              <a:t> interface. </a:t>
            </a:r>
          </a:p>
          <a:p>
            <a:pPr algn="just">
              <a:buFont typeface="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Demonstrated practical application of </a:t>
            </a:r>
            <a:r>
              <a:rPr lang="en-GB" b="1">
                <a:latin typeface="Calibri"/>
                <a:ea typeface="Calibri"/>
                <a:cs typeface="Calibri"/>
              </a:rPr>
              <a:t>Cloud Computing + Big Data + AI</a:t>
            </a:r>
            <a:r>
              <a:rPr lang="en-GB">
                <a:latin typeface="Calibri"/>
                <a:ea typeface="Calibri"/>
                <a:cs typeface="Calibri"/>
              </a:rPr>
              <a:t> in healthcare.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D1C8A-34A7-A1D2-66CA-6D5965C9CF6C}"/>
              </a:ext>
            </a:extLst>
          </p:cNvPr>
          <p:cNvSpPr/>
          <p:nvPr/>
        </p:nvSpPr>
        <p:spPr>
          <a:xfrm>
            <a:off x="5968129" y="1374904"/>
            <a:ext cx="4957392" cy="4197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2000">
                <a:latin typeface="Calibri"/>
                <a:ea typeface="Calibri"/>
                <a:cs typeface="Calibri"/>
              </a:rPr>
              <a:t>🚀 </a:t>
            </a:r>
            <a:r>
              <a:rPr lang="en-GB" sz="2000" b="1">
                <a:latin typeface="Calibri"/>
                <a:ea typeface="Calibri"/>
                <a:cs typeface="Calibri"/>
              </a:rPr>
              <a:t>Future Improvements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endParaRPr lang="en-GB" b="1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Integrate </a:t>
            </a:r>
            <a:r>
              <a:rPr lang="en-GB" b="1">
                <a:latin typeface="Calibri"/>
                <a:ea typeface="Calibri"/>
                <a:cs typeface="Calibri"/>
              </a:rPr>
              <a:t>real hospital Electronic Health Records (EHR)</a:t>
            </a:r>
            <a:r>
              <a:rPr lang="en-GB">
                <a:latin typeface="Calibri"/>
                <a:ea typeface="Calibri"/>
                <a:cs typeface="Calibri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Enable </a:t>
            </a:r>
            <a:r>
              <a:rPr lang="en-GB" b="1">
                <a:latin typeface="Calibri"/>
                <a:ea typeface="Calibri"/>
                <a:cs typeface="Calibri"/>
              </a:rPr>
              <a:t>real-time streaming data ingestion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>
                <a:latin typeface="Calibri"/>
                <a:ea typeface="Calibri"/>
                <a:cs typeface="Calibri"/>
              </a:rPr>
              <a:t>using Azure Event Hub.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Deploy </a:t>
            </a:r>
            <a:r>
              <a:rPr lang="en-GB" b="1">
                <a:latin typeface="Calibri"/>
                <a:ea typeface="Calibri"/>
                <a:cs typeface="Calibri"/>
              </a:rPr>
              <a:t>mobile/web healthcare application</a:t>
            </a:r>
            <a:r>
              <a:rPr lang="en-GB" dirty="0">
                <a:latin typeface="Calibri"/>
                <a:ea typeface="Calibri"/>
                <a:cs typeface="Calibri"/>
              </a:rPr>
              <a:t> </a:t>
            </a:r>
            <a:r>
              <a:rPr lang="en-GB">
                <a:latin typeface="Calibri"/>
                <a:ea typeface="Calibri"/>
                <a:cs typeface="Calibri"/>
              </a:rPr>
              <a:t>for patient access.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Implement </a:t>
            </a:r>
            <a:r>
              <a:rPr lang="en-GB" b="1">
                <a:latin typeface="Calibri"/>
                <a:ea typeface="Calibri"/>
                <a:cs typeface="Calibri"/>
              </a:rPr>
              <a:t>deep learning models</a:t>
            </a:r>
            <a:r>
              <a:rPr lang="en-GB">
                <a:latin typeface="Calibri"/>
                <a:ea typeface="Calibri"/>
                <a:cs typeface="Calibri"/>
              </a:rPr>
              <a:t> for advanced prediction accuracy.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Expand system for </a:t>
            </a:r>
            <a:r>
              <a:rPr lang="en-GB" b="1">
                <a:latin typeface="Calibri"/>
                <a:ea typeface="Calibri"/>
                <a:cs typeface="Calibri"/>
              </a:rPr>
              <a:t>multi-hospital cloud deployment</a:t>
            </a:r>
            <a:r>
              <a:rPr lang="en-GB">
                <a:latin typeface="Calibri"/>
                <a:ea typeface="Calibri"/>
                <a:cs typeface="Calibri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</a:rPr>
              <a:t>Add </a:t>
            </a:r>
            <a:r>
              <a:rPr lang="en-GB" b="1">
                <a:latin typeface="Calibri"/>
                <a:ea typeface="Calibri"/>
                <a:cs typeface="Calibri"/>
              </a:rPr>
              <a:t>Power BI live dashboard</a:t>
            </a:r>
            <a:r>
              <a:rPr lang="en-GB">
                <a:latin typeface="Calibri"/>
                <a:ea typeface="Calibri"/>
                <a:cs typeface="Calibri"/>
              </a:rPr>
              <a:t> for hospital management analytics.</a:t>
            </a:r>
          </a:p>
          <a:p>
            <a:pPr algn="just"/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0814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writing with a black marker on a transparent board&#10;&#10;AI-generated content may be incorrect.">
            <a:extLst>
              <a:ext uri="{FF2B5EF4-FFF2-40B4-BE49-F238E27FC236}">
                <a16:creationId xmlns:a16="http://schemas.microsoft.com/office/drawing/2014/main" id="{61EB1177-EFD5-0E47-8779-880FA6D57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989" y="1951973"/>
            <a:ext cx="6600022" cy="490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1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C5B1ED-45FF-7E6C-CBA0-AE5E9105E901}"/>
              </a:ext>
            </a:extLst>
          </p:cNvPr>
          <p:cNvSpPr txBox="1"/>
          <p:nvPr/>
        </p:nvSpPr>
        <p:spPr>
          <a:xfrm>
            <a:off x="300751" y="233383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b="1" u="sng"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7E065-7E2E-026A-0395-06AF201BDFD9}"/>
              </a:ext>
            </a:extLst>
          </p:cNvPr>
          <p:cNvSpPr txBox="1"/>
          <p:nvPr/>
        </p:nvSpPr>
        <p:spPr>
          <a:xfrm>
            <a:off x="302712" y="1059493"/>
            <a:ext cx="10720191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Kaggle (2024) </a:t>
            </a:r>
            <a:r>
              <a:rPr lang="en-US" i="1" dirty="0">
                <a:latin typeface="Calibri"/>
                <a:ea typeface="Calibri"/>
                <a:cs typeface="Calibri"/>
              </a:rPr>
              <a:t>Healthcare Dataset</a:t>
            </a:r>
            <a:r>
              <a:rPr lang="en-US" dirty="0">
                <a:latin typeface="Calibri"/>
                <a:ea typeface="Calibri"/>
                <a:cs typeface="Calibri"/>
              </a:rPr>
              <a:t>. Available at: </a:t>
            </a:r>
            <a:r>
              <a:rPr lang="en-US" dirty="0">
                <a:latin typeface="Calibri"/>
                <a:ea typeface="Calibri"/>
                <a:cs typeface="Calibri"/>
                <a:hlinkClick r:id="rId2"/>
              </a:rPr>
              <a:t>https://www.kaggle.com/</a:t>
            </a:r>
            <a:r>
              <a:rPr lang="en-US">
                <a:latin typeface="Calibri"/>
                <a:ea typeface="Calibri"/>
                <a:cs typeface="Calibri"/>
              </a:rPr>
              <a:t> (Accessed: 10 April 2026).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Microsoft Azure (2024) </a:t>
            </a:r>
            <a:r>
              <a:rPr lang="en-US" i="1" dirty="0">
                <a:latin typeface="Calibri"/>
                <a:ea typeface="Calibri"/>
                <a:cs typeface="Calibri"/>
              </a:rPr>
              <a:t>Azure Machine Learning documentation</a:t>
            </a:r>
            <a:r>
              <a:rPr lang="en-US" dirty="0">
                <a:latin typeface="Calibri"/>
                <a:ea typeface="Calibri"/>
                <a:cs typeface="Calibri"/>
              </a:rPr>
              <a:t>. Available at: </a:t>
            </a:r>
            <a:r>
              <a:rPr lang="en-US" dirty="0">
                <a:latin typeface="Calibri"/>
                <a:ea typeface="Calibri"/>
                <a:cs typeface="Calibri"/>
                <a:hlinkClick r:id="rId3"/>
              </a:rPr>
              <a:t>https://learn.microsoft.com/azure/machine-learning/</a:t>
            </a:r>
            <a:r>
              <a:rPr lang="en-US">
                <a:latin typeface="Calibri"/>
                <a:ea typeface="Calibri"/>
                <a:cs typeface="Calibri"/>
              </a:rPr>
              <a:t> (Accessed: 4 April 2026).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Microsoft Azure (2024) </a:t>
            </a:r>
            <a:r>
              <a:rPr lang="en-US" i="1" dirty="0">
                <a:latin typeface="Calibri"/>
                <a:ea typeface="Calibri"/>
                <a:cs typeface="Calibri"/>
              </a:rPr>
              <a:t>Azure Synapse Analytics documentation</a:t>
            </a:r>
            <a:r>
              <a:rPr lang="en-US" dirty="0">
                <a:latin typeface="Calibri"/>
                <a:ea typeface="Calibri"/>
                <a:cs typeface="Calibri"/>
              </a:rPr>
              <a:t>. Available at: </a:t>
            </a:r>
            <a:r>
              <a:rPr lang="en-US" dirty="0">
                <a:latin typeface="Calibri"/>
                <a:ea typeface="Calibri"/>
                <a:cs typeface="Calibri"/>
                <a:hlinkClick r:id="rId4"/>
              </a:rPr>
              <a:t>https://learn.microsoft.com/azure/synapse-analytics/</a:t>
            </a:r>
            <a:r>
              <a:rPr lang="en-US">
                <a:latin typeface="Calibri"/>
                <a:ea typeface="Calibri"/>
                <a:cs typeface="Calibri"/>
              </a:rPr>
              <a:t> (Accessed: 8 May 2026).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Microsoft Azure (2024) </a:t>
            </a:r>
            <a:r>
              <a:rPr lang="en-US" i="1" dirty="0">
                <a:latin typeface="Calibri"/>
                <a:ea typeface="Calibri"/>
                <a:cs typeface="Calibri"/>
              </a:rPr>
              <a:t>Azure Data Lake Storage Gen2 documentation</a:t>
            </a:r>
            <a:r>
              <a:rPr lang="en-US" dirty="0">
                <a:latin typeface="Calibri"/>
                <a:ea typeface="Calibri"/>
                <a:cs typeface="Calibri"/>
              </a:rPr>
              <a:t>. Available at: </a:t>
            </a:r>
            <a:r>
              <a:rPr lang="en-US" dirty="0">
                <a:latin typeface="Calibri"/>
                <a:ea typeface="Calibri"/>
                <a:cs typeface="Calibri"/>
                <a:hlinkClick r:id="rId5"/>
              </a:rPr>
              <a:t>https://learn.microsoft.com/azure/storage/blobs/data-lake-storage-introduction</a:t>
            </a:r>
            <a:r>
              <a:rPr lang="en-US">
                <a:latin typeface="Calibri"/>
                <a:ea typeface="Calibri"/>
                <a:cs typeface="Calibri"/>
              </a:rPr>
              <a:t> (Accessed: 8 May </a:t>
            </a:r>
            <a:r>
              <a:rPr lang="en-US" dirty="0">
                <a:latin typeface="Calibri"/>
                <a:ea typeface="Calibri"/>
                <a:cs typeface="Calibri"/>
              </a:rPr>
              <a:t>2026).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Raghupathi, W. and Raghupathi, V. (2014) ‘Big Data Analytics in Healthcare: Promise and Potential’, </a:t>
            </a:r>
            <a:r>
              <a:rPr lang="en-US" i="1">
                <a:latin typeface="Calibri"/>
                <a:ea typeface="Calibri"/>
                <a:cs typeface="Calibri"/>
              </a:rPr>
              <a:t>Health Information Science and Systems</a:t>
            </a:r>
            <a:r>
              <a:rPr lang="en-US">
                <a:latin typeface="Calibri"/>
                <a:ea typeface="Calibri"/>
                <a:cs typeface="Calibri"/>
              </a:rPr>
              <a:t>, 2(3).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Gradio</a:t>
            </a:r>
            <a:r>
              <a:rPr lang="en-US" dirty="0">
                <a:latin typeface="Calibri"/>
                <a:ea typeface="Calibri"/>
                <a:cs typeface="Calibri"/>
              </a:rPr>
              <a:t> (2024) </a:t>
            </a:r>
            <a:r>
              <a:rPr lang="en-US" i="1" dirty="0" err="1">
                <a:latin typeface="Calibri"/>
                <a:ea typeface="Calibri"/>
                <a:cs typeface="Calibri"/>
              </a:rPr>
              <a:t>Gradio</a:t>
            </a:r>
            <a:r>
              <a:rPr lang="en-US" i="1" dirty="0">
                <a:latin typeface="Calibri"/>
                <a:ea typeface="Calibri"/>
                <a:cs typeface="Calibri"/>
              </a:rPr>
              <a:t> documentation</a:t>
            </a:r>
            <a:r>
              <a:rPr lang="en-US" dirty="0">
                <a:latin typeface="Calibri"/>
                <a:ea typeface="Calibri"/>
                <a:cs typeface="Calibri"/>
              </a:rPr>
              <a:t>. Available at: </a:t>
            </a:r>
            <a:r>
              <a:rPr lang="en-US" dirty="0">
                <a:latin typeface="Calibri"/>
                <a:ea typeface="Calibri"/>
                <a:cs typeface="Calibri"/>
                <a:hlinkClick r:id="rId6"/>
              </a:rPr>
              <a:t>https://www.gradio.app/docs</a:t>
            </a:r>
            <a:r>
              <a:rPr lang="en-US">
                <a:latin typeface="Calibri"/>
                <a:ea typeface="Calibri"/>
                <a:cs typeface="Calibri"/>
              </a:rPr>
              <a:t> (Accessed: 1 May 2026).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algn="ctr"/>
            <a:endParaRPr lang="en-GB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229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1140</Words>
  <Application>Microsoft Office PowerPoint</Application>
  <PresentationFormat>Widescreen</PresentationFormat>
  <Paragraphs>197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Cloud-Based Hospital Bill Prediction System</vt:lpstr>
      <vt:lpstr>PowerPoint Presentation</vt:lpstr>
      <vt:lpstr>Healthcare Dataset Overview</vt:lpstr>
      <vt:lpstr>Data Ingestion and Cloud Storage Design</vt:lpstr>
      <vt:lpstr>PowerPoint Presentation</vt:lpstr>
      <vt:lpstr>PowerPoint Presentation</vt:lpstr>
      <vt:lpstr>Data Extraction &amp; Pre-processing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Insights by Shap Expansive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PRASANNA GAUTAM</cp:lastModifiedBy>
  <cp:revision>704</cp:revision>
  <dcterms:created xsi:type="dcterms:W3CDTF">2026-05-04T20:44:00Z</dcterms:created>
  <dcterms:modified xsi:type="dcterms:W3CDTF">2026-05-05T22:34:10Z</dcterms:modified>
</cp:coreProperties>
</file>